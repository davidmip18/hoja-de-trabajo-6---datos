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3B12"/>
                </a:solidFill>
              </a:rPr>
              <a:t>¿Cómo pensamos el hash?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5B53"/>
                </a:solidFill>
              </a:rPr>
              <a:t>La idea es convertir una clave de texto en una casilla del arreglo para insertar y buscar productos más rápido.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1737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A977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A3B12"/>
                </a:solidFill>
              </a:rPr>
              <a:t>1. Clave
</a:t>
            </a:r>
            <a:pPr algn="ctr" indent="0" marL="0">
              <a:buNone/>
            </a:pPr>
            <a:r>
              <a:rPr lang="en-US" sz="1550" dirty="0">
                <a:solidFill>
                  <a:srgbClr val="534741"/>
                </a:solidFill>
              </a:rPr>
              <a:t>"carnita"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2743200" y="157276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A977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A3B12"/>
                </a:solidFill>
              </a:rPr>
              <a:t>2. Mezcla
</a:t>
            </a:r>
            <a:pPr algn="ctr" indent="0" marL="0">
              <a:buNone/>
            </a:pPr>
            <a:r>
              <a:rPr lang="en-US" sz="1550" dirty="0">
                <a:solidFill>
                  <a:srgbClr val="534741"/>
                </a:solidFill>
              </a:rPr>
              <a:t>hash = (hash * 31) + carácter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166360" y="1572768"/>
            <a:ext cx="21488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A977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A3B12"/>
                </a:solidFill>
              </a:rPr>
              <a:t>3. Ajuste
</a:t>
            </a:r>
            <a:pPr algn="ctr" indent="0" marL="0">
              <a:buNone/>
            </a:pPr>
            <a:r>
              <a:rPr lang="en-US" sz="1550" dirty="0">
                <a:solidFill>
                  <a:srgbClr val="534741"/>
                </a:solidFill>
              </a:rPr>
              <a:t>Math.abs(hash) % capacidad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80960" y="1572768"/>
            <a:ext cx="1737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A977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A3B12"/>
                </a:solidFill>
              </a:rPr>
              <a:t>4. Resultado
</a:t>
            </a:r>
            <a:pPr algn="ctr" indent="0" marL="0">
              <a:buNone/>
            </a:pPr>
            <a:r>
              <a:rPr lang="en-US" sz="1550" dirty="0">
                <a:solidFill>
                  <a:srgbClr val="534741"/>
                </a:solidFill>
              </a:rPr>
              <a:t>Índice válido del arreglo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523744" y="1920240"/>
            <a:ext cx="164592" cy="329184"/>
          </a:xfrm>
          <a:prstGeom prst="chevron">
            <a:avLst/>
          </a:prstGeom>
          <a:solidFill>
            <a:srgbClr val="D88B5B"/>
          </a:solidFill>
          <a:ln w="12700">
            <a:solidFill>
              <a:srgbClr val="D88B5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6048" y="1920240"/>
            <a:ext cx="164592" cy="329184"/>
          </a:xfrm>
          <a:prstGeom prst="chevron">
            <a:avLst/>
          </a:prstGeom>
          <a:solidFill>
            <a:srgbClr val="D88B5B"/>
          </a:solidFill>
          <a:ln w="12700">
            <a:solidFill>
              <a:srgbClr val="D88B5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61504" y="1920240"/>
            <a:ext cx="164592" cy="329184"/>
          </a:xfrm>
          <a:prstGeom prst="chevron">
            <a:avLst/>
          </a:prstGeom>
          <a:solidFill>
            <a:srgbClr val="D88B5B"/>
          </a:solidFill>
          <a:ln w="12700">
            <a:solidFill>
              <a:srgbClr val="D88B5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07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3B12"/>
                </a:solidFill>
              </a:rPr>
              <a:t>¿Por qué funciona?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01568"/>
            <a:ext cx="4389120" cy="1572768"/>
          </a:xfrm>
          <a:prstGeom prst="rect">
            <a:avLst/>
          </a:prstGeom>
          <a:solidFill>
            <a:srgbClr val="FFFFFF"/>
          </a:solidFill>
          <a:ln>
            <a:solidFill>
              <a:srgbClr val="E7A977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534741"/>
                </a:solidFill>
              </a:rPr>
              <a:t>• Recorre cada letra de la clave.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34741"/>
                </a:solidFill>
              </a:rPr>
              <a:t>• El 31 ayuda a mezclar mejor los valores.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34741"/>
                </a:solidFill>
              </a:rPr>
              <a:t>• El módulo asegura un índice entre 0 y capacidad - 1.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34741"/>
                </a:solidFill>
              </a:rPr>
              <a:t>• Así evitamos recorrer todo el inventario para buscar.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5394960" y="2907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3B12"/>
                </a:solidFill>
              </a:rPr>
              <a:t>Código que lo hace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3401568"/>
            <a:ext cx="4023360" cy="1572768"/>
          </a:xfrm>
          <a:prstGeom prst="rect">
            <a:avLst/>
          </a:prstGeom>
          <a:solidFill>
            <a:srgbClr val="2B2523"/>
          </a:solidFill>
          <a:ln>
            <a:solidFill>
              <a:srgbClr val="2B2523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hash = 0;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primo = 31;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key.length(); i++)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 = (hash * primo) + key.charAt(i);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Math.abs(hash) % capacidad;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674352" y="34747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8A3B12"/>
                </a:solidFill>
              </a:rPr>
              <a:t>¿Qué pasa si dos claves caen en el mismo índice?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9674352" y="97840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B5B53"/>
                </a:solidFill>
              </a:rPr>
              <a:t>Usamos encadenamiento: en esa casilla se conecta otro nodo.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555480" y="164592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6E67"/>
                </a:solidFill>
              </a:rPr>
              <a:t>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57232" y="1572768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C5B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555480" y="21214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6E67"/>
                </a:solidFill>
              </a:rPr>
              <a:t>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57232" y="2048256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C5B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555480" y="25968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6E67"/>
                </a:solidFill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57232" y="2523744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C5B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555480" y="307238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65911"/>
                </a:solidFill>
              </a:rPr>
              <a:t>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57232" y="2999232"/>
            <a:ext cx="841248" cy="301752"/>
          </a:xfrm>
          <a:prstGeom prst="rect">
            <a:avLst/>
          </a:prstGeom>
          <a:solidFill>
            <a:srgbClr val="FCE4D6"/>
          </a:solidFill>
          <a:ln>
            <a:solidFill>
              <a:srgbClr val="C65911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555480" y="354787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6E67"/>
                </a:solidFill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857232" y="3474720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C5B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808208" y="2999232"/>
            <a:ext cx="7315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C659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3B12"/>
                </a:solidFill>
              </a:rPr>
              <a:t>carnita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716768" y="3072384"/>
            <a:ext cx="73152" cy="164592"/>
          </a:xfrm>
          <a:prstGeom prst="chevron">
            <a:avLst/>
          </a:prstGeom>
          <a:solidFill>
            <a:srgbClr val="D88B5B"/>
          </a:solidFill>
          <a:ln w="12700">
            <a:solidFill>
              <a:srgbClr val="D88B5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08208" y="3419856"/>
            <a:ext cx="7315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C5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E67"/>
                </a:solidFill>
              </a:rPr>
              <a:t>otro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74352" y="41330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3B12"/>
                </a:solidFill>
              </a:rPr>
              <a:t>Idea central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10928" y="4425696"/>
            <a:ext cx="1965960" cy="457200"/>
          </a:xfrm>
          <a:prstGeom prst="rect">
            <a:avLst/>
          </a:prstGeom>
          <a:solidFill>
            <a:srgbClr val="FCE4D6"/>
          </a:solidFill>
          <a:ln>
            <a:solidFill>
              <a:srgbClr val="C659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A3B12"/>
                </a:solidFill>
              </a:rPr>
              <a:t>texto → número → índice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92640" y="49560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6B5B53"/>
                </a:solidFill>
              </a:rPr>
              <a:t>Eso permite insertar con put() y encontrar con get() en menos pasos.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¿Cómo pensamos el hash?</dc:title>
  <dc:subject>Slide para presentación sobre el hash del programa</dc:subject>
  <dc:creator>OpenAI</dc:creator>
  <cp:lastModifiedBy>OpenAI</cp:lastModifiedBy>
  <cp:revision>1</cp:revision>
  <dcterms:created xsi:type="dcterms:W3CDTF">2026-03-10T00:51:41Z</dcterms:created>
  <dcterms:modified xsi:type="dcterms:W3CDTF">2026-03-10T00:51:41Z</dcterms:modified>
</cp:coreProperties>
</file>